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6271"/>
  </p:normalViewPr>
  <p:slideViewPr>
    <p:cSldViewPr snapToGrid="0">
      <p:cViewPr varScale="1">
        <p:scale>
          <a:sx n="119" d="100"/>
          <a:sy n="119" d="100"/>
        </p:scale>
        <p:origin x="21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202BD-2A62-3647-8CC4-A327F300CD3A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B949BF-B1B3-124E-9CB2-978AD807C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70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8BDB-947E-EA93-753A-841A7C0C2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0709BC-7046-04DA-6AFC-8406898FD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DB5E4-A61A-3F33-94AC-45647F7A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D4796-3F2F-C14D-BCDF-839CE6C732D7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C666E-44CC-C020-7979-96B08E68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5F15C-5D69-97CC-E005-86DE67EE2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43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205E-A09E-D39A-D3A8-6DF2886F0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7BB3C-7BD6-80E9-2696-F3DA0D377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449F8-B7D7-B44B-D3C8-23A49C12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E744-B1B0-FE4B-941B-F2B8A75DCA52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ACB06-B7A0-3CF2-C2CB-D9E065444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4C1FC-9FA3-6FE6-9C0D-69EE92385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483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D654-AC55-5845-A0D0-56DD3E926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6786C-5440-352A-A781-DACB8918A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0D98-AC36-86FC-C650-67D81D60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05AA1-236C-9E4F-A625-EFBCA0FCEE78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29274-2029-7A33-101F-7D7992CE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DB777-8BA2-098F-9FA8-920410D9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95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5E3E4-CA44-9E45-656C-4187DB9AC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79F1E-F2F3-17D1-71D0-F762030162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AA207-559D-C6E7-8D19-EF723D498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2AB87-27AE-5F5D-E4DA-5D729E4B9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24600-C271-6541-B539-86F21B42156B}" type="datetime1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38909-30A9-D524-4DDC-B410B117C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E48AB-7768-5F64-3801-C924FC407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1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2F51-B055-112C-D045-E9B54B21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A034A-718C-234D-8077-D41C1819F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0EA2E-1034-759F-61CB-F9311E2E9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A8C47-1547-2674-7174-ADE0F4015A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AE0A3-2396-C579-29B0-373C335BD7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CD398E-47F8-8806-9BDB-AA2DA7E12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42D90-5C1E-5444-84B6-CD69B874AC07}" type="datetime1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2D02D4-D507-8A82-A509-78332B15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2792A-3F3E-3AAA-26EC-38D77B8FC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23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7125-EF9B-3637-6C8D-BD8045A1F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48EAA-2DA1-C5D0-1889-7CE7ABB2F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CBBF8-2EAF-3042-A760-02E548AE3A29}" type="datetime1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32584-02F7-3B2D-0D0B-AC42CB7D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35868-C4CB-6362-8BDE-D7E57D9D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31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DAE904-7D84-A6E7-4BDD-EE26C572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6100C-0EDD-C54D-9A7D-4D9EB31F8B6E}" type="datetime1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28FFAF-E097-0F33-38C4-5303184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29387-882F-2153-5BBA-125E3231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36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94D3-5DE5-7035-F097-23C3DC74C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B2C54-D26C-4C35-A891-D577E1FEC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9EB7-2926-44F3-F9D9-72EB12729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A343E-D95F-8096-1049-7ED5BA7D5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A9437-A799-1A43-8DE0-4D2965209508}" type="datetime1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CE0B5-D3A5-9D77-9154-FA613B2D2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2ECF4-C9A5-6064-00CC-848AD208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89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ED0FB-6B30-E677-7AAB-D91298129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B71D60-FE53-3C6B-B55E-0890732CC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5B7A1-456B-811E-1974-C68DC5DA9B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ABEE5-DD1F-A600-CBE6-7E602246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44B21-90C6-2E41-BEE0-4EB44FC31367}" type="datetime1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1C0F2-2A9F-CE7A-6279-BCCF7D3A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3C48F-1122-C70E-EFA6-8D99789B1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45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EB6B-CDEC-F6C4-D8A9-C3A612FE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3EA5F-651A-A317-2AF6-5B778832C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79CB5-C7E6-C83F-8192-5DF88C9F6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03CE-A53B-3C48-B2CB-0EEC01FAF5D0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F4745-1F11-F665-22E0-5C790DB7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597AC-8E44-FCB0-7D7B-C6DDA600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1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D580E7-28FD-2A42-E966-F44477F2ED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FB154-B485-A5AC-0FD1-88895FFFA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24EBA-6E41-1C32-73B2-7B568A1D8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DB3DB-CFD9-8545-808C-C20E47F5EACA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468F7-039C-5872-2AAA-266002FC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B9597-619B-190F-E8A2-91F9E478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61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DB53D-501E-8B58-3EFB-BA6FAD250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7F034-6E23-2F63-7A47-33D604C6F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D6816-74DD-3392-ED2C-5ACB6D750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0EB98-42E3-8B43-A3D2-B572C463E9A4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40648-72E5-41D2-07A3-6DABE4D11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CD649-C240-7A45-4EBB-245F43008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192E7-961E-4740-9348-0285CF92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casasnovasmaggie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ba.gov/" TargetMode="External"/><Relationship Id="rId2" Type="http://schemas.openxmlformats.org/officeDocument/2006/relationships/hyperlink" Target="https://www.justice.gov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hyperlink" Target="https://www.cfainstitut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E4928-D8B5-43AB-0395-24E667162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5609"/>
            <a:ext cx="9144000" cy="6906410"/>
          </a:xfrm>
        </p:spPr>
        <p:txBody>
          <a:bodyPr>
            <a:normAutofit fontScale="90000"/>
          </a:bodyPr>
          <a:lstStyle/>
          <a:p>
            <a:br>
              <a:rPr lang="en-US" sz="2000" b="1" dirty="0"/>
            </a:br>
            <a:br>
              <a:rPr lang="en-US" sz="2000" b="1" dirty="0"/>
            </a:br>
            <a:r>
              <a:rPr lang="en-US" sz="2000" b="1" dirty="0"/>
              <a:t>The Ethical Analysis and Evaluation of:</a:t>
            </a:r>
            <a:br>
              <a:rPr lang="en-US" sz="2000" dirty="0"/>
            </a:br>
            <a:r>
              <a:rPr lang="en-US" sz="2000" b="1" dirty="0"/>
              <a:t>Key Bank Agrees to Pay $7.7 Million to Resolve Branch Manager’s Fraud</a:t>
            </a:r>
            <a:br>
              <a:rPr lang="en-US" sz="2000" b="1" dirty="0"/>
            </a:br>
            <a:br>
              <a:rPr lang="en-US" sz="2000" dirty="0"/>
            </a:br>
            <a:r>
              <a:rPr lang="en-US" sz="2000" dirty="0"/>
              <a:t>Prepared for:</a:t>
            </a:r>
            <a:br>
              <a:rPr lang="en-US" sz="2000" dirty="0"/>
            </a:br>
            <a:r>
              <a:rPr lang="en-US" sz="2000" dirty="0"/>
              <a:t>Professor Marcos A. Kerbel</a:t>
            </a:r>
            <a:br>
              <a:rPr lang="en-US" sz="2000" dirty="0"/>
            </a:br>
            <a:r>
              <a:rPr lang="en-US" sz="2000" dirty="0"/>
              <a:t>Department of Finance</a:t>
            </a:r>
            <a:br>
              <a:rPr lang="en-US" sz="2000" dirty="0"/>
            </a:br>
            <a:r>
              <a:rPr lang="en-US" sz="2000" dirty="0"/>
              <a:t>College of Business</a:t>
            </a:r>
            <a:br>
              <a:rPr lang="en-US" sz="2000" dirty="0"/>
            </a:br>
            <a:r>
              <a:rPr lang="en-US" sz="2000" dirty="0"/>
              <a:t>Florida International University</a:t>
            </a:r>
            <a:br>
              <a:rPr lang="en-US" sz="2000" dirty="0"/>
            </a:br>
            <a:r>
              <a:rPr lang="en-US" sz="2000" dirty="0"/>
              <a:t>Miami, Florida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Prepared by:</a:t>
            </a:r>
            <a:br>
              <a:rPr lang="en-US" sz="2000" dirty="0"/>
            </a:br>
            <a:r>
              <a:rPr lang="en-US" sz="2000" dirty="0"/>
              <a:t>Maggie Casasnovas</a:t>
            </a:r>
            <a:br>
              <a:rPr lang="en-US" sz="2000" dirty="0"/>
            </a:br>
            <a:r>
              <a:rPr lang="en-US" sz="2000" dirty="0"/>
              <a:t>6378313</a:t>
            </a:r>
            <a:br>
              <a:rPr lang="en-US" sz="2000" dirty="0"/>
            </a:br>
            <a:r>
              <a:rPr lang="en-US" sz="2000" dirty="0"/>
              <a:t>305 464 5185</a:t>
            </a:r>
            <a:br>
              <a:rPr lang="en-US" sz="2000" dirty="0"/>
            </a:br>
            <a:r>
              <a:rPr lang="en-US" sz="2000" dirty="0"/>
              <a:t>mcasa097@fiu.edu</a:t>
            </a:r>
            <a:br>
              <a:rPr lang="en-US" sz="2000" dirty="0"/>
            </a:br>
            <a:r>
              <a:rPr lang="en-US" sz="2000" dirty="0">
                <a:hlinkClick r:id="rId2"/>
              </a:rPr>
              <a:t>casasnovasmaggie@gmail.com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Date of Report</a:t>
            </a:r>
            <a:br>
              <a:rPr lang="en-US" sz="2000" dirty="0"/>
            </a:br>
            <a:r>
              <a:rPr lang="en-US" sz="2000" dirty="0"/>
              <a:t>March 29, 2026</a:t>
            </a:r>
            <a:br>
              <a:rPr lang="en-US" sz="2000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8083F-5A2F-5606-4235-5404441D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99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5C2A4-FE22-A0A1-7EE6-8D49FF37C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1. What are ethics, and why are they essential in global banking, finance, and business?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E94C0-711C-8DA4-7177-D5A66E421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325564"/>
          </a:xfrm>
        </p:spPr>
        <p:txBody>
          <a:bodyPr>
            <a:normAutofit/>
          </a:bodyPr>
          <a:lstStyle/>
          <a:p>
            <a:r>
              <a:rPr lang="en-US" sz="2000" b="1" dirty="0"/>
              <a:t>What are ethics, and why are they essential</a:t>
            </a:r>
          </a:p>
          <a:p>
            <a:pPr lvl="1"/>
            <a:r>
              <a:rPr lang="en-US" sz="1800" dirty="0"/>
              <a:t>Ethics is the principles that guide behavior in what is right and what is wrong. </a:t>
            </a:r>
          </a:p>
          <a:p>
            <a:pPr lvl="1"/>
            <a:r>
              <a:rPr lang="en-US" sz="1800" dirty="0"/>
              <a:t>In global banking and finance, ethics play a vital role in establishing the trust within the consumers to operate day-to-day with public trust and manage capital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CD5C01-BF06-5F7F-12A1-060086BFEA4D}"/>
              </a:ext>
            </a:extLst>
          </p:cNvPr>
          <p:cNvSpPr txBox="1">
            <a:spLocks/>
          </p:cNvSpPr>
          <p:nvPr/>
        </p:nvSpPr>
        <p:spPr>
          <a:xfrm>
            <a:off x="838200" y="3151190"/>
            <a:ext cx="10515600" cy="319761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Why ethics are essential in global banking, finance, and business?</a:t>
            </a:r>
          </a:p>
          <a:p>
            <a:pPr lvl="1"/>
            <a:r>
              <a:rPr lang="en-US" dirty="0"/>
              <a:t>If ethical standards did not exist, the entire financial system would become vulnerable to misconduct and fraud.</a:t>
            </a:r>
          </a:p>
          <a:p>
            <a:pPr lvl="1"/>
            <a:r>
              <a:rPr lang="en-US" dirty="0"/>
              <a:t>Ethics ensures the transparency and integrity, which are the necessary base to maintain confidence in financial markets. </a:t>
            </a:r>
          </a:p>
          <a:p>
            <a:pPr lvl="1"/>
            <a:r>
              <a:rPr lang="en-US" dirty="0"/>
              <a:t>Ethics are essential in preventing systematic crises, protecting stakeholders from being exploited and ensuring long term economic stability.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Global banking context</a:t>
            </a:r>
          </a:p>
          <a:p>
            <a:pPr lvl="1"/>
            <a:r>
              <a:rPr lang="en-US" dirty="0"/>
              <a:t>Global banking refers to any business activity that crosses national borders. </a:t>
            </a:r>
          </a:p>
          <a:p>
            <a:pPr lvl="1"/>
            <a:r>
              <a:rPr lang="en-US" dirty="0"/>
              <a:t>Operating ethically means having corporate social responsibilitity and promoting fair competition, making sure that companies choose the right path event when operating in countries with weak regulations.</a:t>
            </a:r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sz="1400" dirty="0"/>
              <a:t>Source: U.S. Department of Justice. “KeyBank Agrees to Pay $7.7 Million to Resolve Branch Manager’s Fraud.” January 7, 2026. </a:t>
            </a:r>
            <a:r>
              <a:rPr lang="en-US" sz="1400" dirty="0" err="1"/>
              <a:t>justice.gov</a:t>
            </a:r>
            <a:endParaRPr lang="en-US" sz="1400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FB6C69C-C77B-5B9E-D6B4-0B889B5AA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45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7B7C7-9183-0573-D232-5C42C5DFA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9306262" cy="1301675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2. What was the case about (Summary of the Case)?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A3789-9C47-6795-4A05-FAA78DC59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19257"/>
            <a:ext cx="8165952" cy="4000650"/>
          </a:xfrm>
        </p:spPr>
        <p:txBody>
          <a:bodyPr>
            <a:normAutofit fontScale="92500" lnSpcReduction="20000"/>
          </a:bodyPr>
          <a:lstStyle/>
          <a:p>
            <a:r>
              <a:rPr lang="en-US" sz="1700" dirty="0"/>
              <a:t>KeyBank National Association and its fraudulent involvement using PPP loans during the COVID-19 pandemic </a:t>
            </a:r>
          </a:p>
          <a:p>
            <a:r>
              <a:rPr lang="en-US" sz="1700" dirty="0"/>
              <a:t>Tommy Hawkins, a branch manager, facilitated the submission of these loans for small businesses to keep paying employees and cover basic expenses </a:t>
            </a:r>
          </a:p>
          <a:p>
            <a:r>
              <a:rPr lang="en-US" sz="1700" dirty="0"/>
              <a:t>Loans issued under the CARES Act of 2020 (forgivable loans) </a:t>
            </a:r>
          </a:p>
          <a:p>
            <a:pPr marL="0" indent="0">
              <a:buNone/>
            </a:pPr>
            <a:br>
              <a:rPr lang="en-US" sz="1700" dirty="0"/>
            </a:br>
            <a:r>
              <a:rPr lang="en-US" sz="1700" dirty="0"/>
              <a:t>Hawkins submitted ~48 fraudulent applications with false employee numbers and expenses </a:t>
            </a:r>
          </a:p>
          <a:p>
            <a:r>
              <a:rPr lang="en-US" sz="1700" dirty="0"/>
              <a:t>“The Paycheck Protection Program was designed to support small businesses during the pandemic, not to enrich insiders”</a:t>
            </a:r>
          </a:p>
          <a:p>
            <a:endParaRPr lang="en-US" sz="1700" dirty="0"/>
          </a:p>
          <a:p>
            <a:r>
              <a:rPr lang="en-US" sz="1700" dirty="0"/>
              <a:t>SBA paid nearly $6 million </a:t>
            </a:r>
          </a:p>
          <a:p>
            <a:r>
              <a:rPr lang="en-US" sz="1700" dirty="0"/>
              <a:t>KeyBank detected suspicious patterns but still submitted forgiveness applications </a:t>
            </a:r>
          </a:p>
          <a:p>
            <a:r>
              <a:rPr lang="en-US" sz="1700" dirty="0"/>
              <a:t>Result: violation of the False Claims Act, $7.77M settlement, Hawkins sentenced to 65 months</a:t>
            </a:r>
          </a:p>
          <a:p>
            <a:pPr marL="0" indent="0">
              <a:buNone/>
            </a:pPr>
            <a:r>
              <a:rPr lang="en-US" sz="1000" dirty="0"/>
              <a:t>U.S. Attorney’s Office, District of New Jersey. “Key Bank Agrees to Pay $7.7 Million to Resolve Branch Manager’s Fraud.” U.S. Department of Justice, January 7, 2026. </a:t>
            </a:r>
            <a:r>
              <a:rPr lang="en-US" sz="1000" dirty="0" err="1"/>
              <a:t>justice.gov</a:t>
            </a:r>
            <a:r>
              <a:rPr lang="en-US" sz="1000" dirty="0"/>
              <a:t>.</a:t>
            </a:r>
          </a:p>
        </p:txBody>
      </p:sp>
      <p:pic>
        <p:nvPicPr>
          <p:cNvPr id="2052" name="Picture 4" descr="KeyBank (@keybank) • Facebook">
            <a:extLst>
              <a:ext uri="{FF2B5EF4-FFF2-40B4-BE49-F238E27FC236}">
                <a16:creationId xmlns:a16="http://schemas.microsoft.com/office/drawing/2014/main" id="{BD475AE7-D6A9-7E35-5F5B-05E973E9E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96" b="2"/>
          <a:stretch>
            <a:fillRect/>
          </a:stretch>
        </p:blipFill>
        <p:spPr bwMode="auto">
          <a:xfrm>
            <a:off x="9353314" y="1847847"/>
            <a:ext cx="2185543" cy="2271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44CC2-1373-EBE5-C5CC-38526273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E33A-AA03-4562-7FA3-A5E9E64D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Who was (were) the individual(s) and company (</a:t>
            </a:r>
            <a:r>
              <a:rPr lang="en-US" dirty="0" err="1"/>
              <a:t>ies</a:t>
            </a:r>
            <a:r>
              <a:rPr lang="en-US" dirty="0"/>
              <a:t>) involved?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BBE06-E94F-BE4F-8802-04A677CBA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primary company involved was KeyBank, a U.S. financial services company headquartered in Cleveland, Ohio</a:t>
            </a:r>
          </a:p>
          <a:p>
            <a:r>
              <a:rPr lang="en-US" dirty="0"/>
              <a:t>The main individual involved was Tommy Hawkins, former branch manager of KeyBank in Conshohocken, Pennsylvania</a:t>
            </a:r>
          </a:p>
          <a:p>
            <a:r>
              <a:rPr lang="en-US" dirty="0"/>
              <a:t>Additional individuals created or used companies with little or no operations to apply for PPP loans and provide false information</a:t>
            </a:r>
          </a:p>
          <a:p>
            <a:r>
              <a:rPr lang="en-US" dirty="0"/>
              <a:t>Some of these individuals faced charges and pleaded guilty for fraud and money laundering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“Tommy Hawkins was a bank manager… Hawkins helped… submit PPP loan applications that contained materially false representations.”</a:t>
            </a:r>
          </a:p>
          <a:p>
            <a:r>
              <a:rPr lang="en-US" dirty="0"/>
              <a:t>The U.S. government, including the Department of Justice (DOJ) and the Small Business Administration (SBA), played a key role in the investigation and enforcement¹</a:t>
            </a:r>
          </a:p>
          <a:p>
            <a:pPr marL="0" indent="0">
              <a:buNone/>
            </a:pPr>
            <a:r>
              <a:rPr lang="en-US" sz="1300" dirty="0"/>
              <a:t> U.S. Attorney’s Office, District of New Jersey. “Key Bank Agrees to Pay $7.7 Million to Resolve Branch Manager’s Fraud.” U.S. Department of Justice, January 7, 2026. </a:t>
            </a:r>
            <a:r>
              <a:rPr lang="en-US" sz="1300" dirty="0" err="1"/>
              <a:t>justice.gov</a:t>
            </a:r>
            <a:endParaRPr lang="en-US" sz="1300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4E507-C029-FD8A-BD69-755AD73B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08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0281-609F-B146-2DA2-BE4845941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155"/>
            <a:ext cx="7789078" cy="560680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800" b="1" dirty="0"/>
              <a:t>4. a. When did the case begin?</a:t>
            </a:r>
          </a:p>
          <a:p>
            <a:r>
              <a:rPr lang="en-US" sz="4800" dirty="0"/>
              <a:t>Fraudulent activity happened in 2020 during the pandemic </a:t>
            </a:r>
          </a:p>
          <a:p>
            <a:r>
              <a:rPr lang="en-US" sz="4800" dirty="0"/>
              <a:t>Hawkins started recruiting people for non-legitimate PPP loans </a:t>
            </a:r>
          </a:p>
          <a:p>
            <a:pPr marL="0" indent="0">
              <a:buNone/>
            </a:pPr>
            <a:br>
              <a:rPr lang="en-US" sz="4800" dirty="0"/>
            </a:br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b. Where did it happen?</a:t>
            </a:r>
          </a:p>
          <a:p>
            <a:r>
              <a:rPr lang="en-US" sz="4800" dirty="0"/>
              <a:t>Conshohocken Branch of KeyBank </a:t>
            </a:r>
          </a:p>
          <a:p>
            <a:r>
              <a:rPr lang="en-US" sz="4800" dirty="0"/>
              <a:t>Legal case handled by the U.S. Attorney’s Office, District of New Jersey </a:t>
            </a:r>
          </a:p>
          <a:p>
            <a:pPr marL="0" indent="0">
              <a:buNone/>
            </a:pPr>
            <a:br>
              <a:rPr lang="en-US" sz="4800" dirty="0"/>
            </a:br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c. How much money was involved?</a:t>
            </a:r>
          </a:p>
          <a:p>
            <a:r>
              <a:rPr lang="en-US" sz="4800" dirty="0"/>
              <a:t>Nearly $6 million fraudulently obtained from the SBA </a:t>
            </a:r>
          </a:p>
          <a:p>
            <a:r>
              <a:rPr lang="en-US" sz="4800" dirty="0"/>
              <a:t>$7.77 million paid by KeyBank to settle the case </a:t>
            </a:r>
          </a:p>
        </p:txBody>
      </p:sp>
      <p:pic>
        <p:nvPicPr>
          <p:cNvPr id="3074" name="Picture 2" descr="PPP Loans – How to Attain Total Forgiveness - AccuPay | Payroll and Tax  Services | Indianapolis">
            <a:extLst>
              <a:ext uri="{FF2B5EF4-FFF2-40B4-BE49-F238E27FC236}">
                <a16:creationId xmlns:a16="http://schemas.microsoft.com/office/drawing/2014/main" id="{E47805EA-A723-CF89-2F27-877D56B8C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26" t="20524"/>
          <a:stretch>
            <a:fillRect/>
          </a:stretch>
        </p:blipFill>
        <p:spPr bwMode="auto">
          <a:xfrm>
            <a:off x="8627278" y="2455068"/>
            <a:ext cx="3564722" cy="1947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8D171-7B43-A385-5385-35D594F6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97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5D41E-C1CC-277F-1837-529350287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2428"/>
            <a:ext cx="10515600" cy="55745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4.d. What period did the violation cover?</a:t>
            </a:r>
          </a:p>
          <a:p>
            <a:r>
              <a:rPr lang="en-US" dirty="0"/>
              <a:t>2020 to early 2021 </a:t>
            </a:r>
          </a:p>
          <a:p>
            <a:r>
              <a:rPr lang="en-US" dirty="0"/>
              <a:t>Hawkins facilitated fraudulent loan applications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e. When did the case end?</a:t>
            </a:r>
          </a:p>
          <a:p>
            <a:r>
              <a:rPr lang="en-US" dirty="0"/>
              <a:t>Civil settlement announced in January 2026 </a:t>
            </a:r>
          </a:p>
          <a:p>
            <a:r>
              <a:rPr lang="en-US" dirty="0"/>
              <a:t>Some criminal sentencings still pending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f. What was the amount of the fine paid or criminal sentencing conviction?</a:t>
            </a:r>
            <a:endParaRPr lang="en-US" dirty="0"/>
          </a:p>
          <a:p>
            <a:r>
              <a:rPr lang="en-US" dirty="0"/>
              <a:t>Fine paid by KeyBank: $7.77 million </a:t>
            </a:r>
          </a:p>
          <a:p>
            <a:r>
              <a:rPr lang="en-US" dirty="0"/>
              <a:t>Criminal sentencing conviction: Tommy Hawkins was sentenced to 65 months in prison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0E72F-E776-9106-95EB-91E53CF48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34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7B6F-E540-ED06-7E95-D6969A619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Why did it happen?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33400-EDA1-4D39-C46C-40139040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798"/>
            <a:ext cx="10515600" cy="470316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Weak internal controls and individual dishonesty </a:t>
            </a:r>
          </a:p>
          <a:p>
            <a:r>
              <a:rPr lang="en-US" dirty="0"/>
              <a:t>The branch manager took advantage of the PPP system for personal benefit </a:t>
            </a:r>
          </a:p>
          <a:p>
            <a:r>
              <a:rPr lang="en-US" dirty="0"/>
              <a:t>Fraudulent loan applications were intentionally submitted </a:t>
            </a:r>
          </a:p>
          <a:p>
            <a:endParaRPr lang="en-US" dirty="0"/>
          </a:p>
          <a:p>
            <a:r>
              <a:rPr lang="en-US" dirty="0"/>
              <a:t>Red flags were not addressed by KeyBank </a:t>
            </a:r>
          </a:p>
          <a:p>
            <a:r>
              <a:rPr lang="en-US" dirty="0"/>
              <a:t>The bank continued submitting forgiveness applications despite suspicious activity </a:t>
            </a:r>
          </a:p>
          <a:p>
            <a:r>
              <a:rPr lang="en-US" dirty="0"/>
              <a:t>Oversight, compliance, and risk management flaws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“The fraud resulted from both individual misconduct and institutional failure.”</a:t>
            </a:r>
          </a:p>
          <a:p>
            <a:endParaRPr lang="en-US" dirty="0"/>
          </a:p>
          <a:p>
            <a:r>
              <a:rPr lang="en-US" dirty="0"/>
              <a:t>The urgency of the PPP program led to quicker processing and less verification </a:t>
            </a:r>
          </a:p>
          <a:p>
            <a:r>
              <a:rPr lang="en-US" dirty="0"/>
              <a:t>This increased the possibility of fraud</a:t>
            </a:r>
          </a:p>
          <a:p>
            <a:pPr marL="0" indent="0">
              <a:buNone/>
            </a:pPr>
            <a:r>
              <a:rPr lang="en-US" sz="1200" dirty="0"/>
              <a:t> U.S. Attorney’s Office, District of New Jersey. “Key Bank Agrees to Pay $7.7 Million to Resolve Branch Manager’s Fraud.” U.S. Department of Justice, January 7, 2026. </a:t>
            </a:r>
            <a:r>
              <a:rPr lang="en-US" sz="1200" dirty="0" err="1"/>
              <a:t>justice.gov</a:t>
            </a:r>
            <a:endParaRPr lang="en-US" sz="1200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B9988-9142-353B-6302-F1823A42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82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69304-1AE9-DE3F-AA0B-77F027C85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6. How did it come to the attention of the media?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8A20E-BCA5-0CBA-DC21-D55AA96A2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KeyBank noticed suspicious transactions in the origination of PPP loans </a:t>
            </a:r>
          </a:p>
          <a:p>
            <a:r>
              <a:rPr lang="en-US" dirty="0"/>
              <a:t>The bank conducted an internal investigation and reported it to the SBA </a:t>
            </a:r>
          </a:p>
          <a:p>
            <a:endParaRPr lang="en-US" dirty="0"/>
          </a:p>
          <a:p>
            <a:r>
              <a:rPr lang="en-US" dirty="0"/>
              <a:t>This led to additional scrutiny by federal authorities, including the DOJ </a:t>
            </a:r>
          </a:p>
          <a:p>
            <a:r>
              <a:rPr lang="en-US" dirty="0"/>
              <a:t>The case became public through media coverage and official press releases</a:t>
            </a:r>
          </a:p>
          <a:p>
            <a:pPr marL="0" indent="0">
              <a:buNone/>
            </a:pPr>
            <a:r>
              <a:rPr lang="en-US" sz="1000" dirty="0"/>
              <a:t>U.S. Attorney’s Office, District of New Jersey. “Key Bank Agrees to Pay $7.7 Million to Resolve Branch Manager’s Fraud.” U.S. Department of Justice, January 7, 2026. </a:t>
            </a:r>
            <a:r>
              <a:rPr lang="en-US" sz="1000" dirty="0" err="1"/>
              <a:t>justice.gov</a:t>
            </a:r>
            <a:endParaRPr lang="en-US" sz="1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DC164-0643-2740-103D-1A041E71E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99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09F0C-8F70-ADA5-19F6-EDA8E802B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anchor="b">
            <a:normAutofit/>
          </a:bodyPr>
          <a:lstStyle/>
          <a:p>
            <a:r>
              <a:rPr lang="en-US" sz="4000" b="1"/>
              <a:t>7. What was the outcome of the case?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E6D0E-963F-0C71-55C4-CFD29515D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86323"/>
            <a:ext cx="4783697" cy="3433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“The case resulted in both civil and criminal consequences:”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Civil penalty: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$7.7M settlement (KeyBank)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Criminal penalty: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65-month prison sentence (Hawkins)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Additional individuals charged or pleaded guilty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000" dirty="0"/>
              <a:t>U.S. Attorney’s Office, District of New Jersey. “Key Bank Agrees to Pay $7.7 Million to Resolve Branch Manager’s Fraud.” U.S. Department of Justice, January 7, 2026.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pic>
        <p:nvPicPr>
          <p:cNvPr id="8" name="Graphic 7" descr="Judge">
            <a:extLst>
              <a:ext uri="{FF2B5EF4-FFF2-40B4-BE49-F238E27FC236}">
                <a16:creationId xmlns:a16="http://schemas.microsoft.com/office/drawing/2014/main" id="{630E6AF8-CB31-CE8E-6509-07A984A1C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8424" y="646206"/>
            <a:ext cx="5365375" cy="53653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1EFBE-3721-F2E4-8727-7D3D1E35B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1B192E7-961E-4740-9348-0285CF925973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46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0CEDA-296E-C600-9CC4-1EC93E74B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chemeClr val="tx1">
                    <a:lumMod val="85000"/>
                    <a:lumOff val="15000"/>
                  </a:schemeClr>
                </a:solidFill>
              </a:rPr>
              <a:t>8. How could this case have been avoided?</a:t>
            </a:r>
            <a:endParaRPr lang="en-US" sz="37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A7088E4-F2F7-2A68-7951-1CF8374CBB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57987" y="2431765"/>
            <a:ext cx="8276026" cy="33200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sz="1700" b="1">
                <a:solidFill>
                  <a:schemeClr val="tx1">
                    <a:lumMod val="85000"/>
                    <a:lumOff val="15000"/>
                  </a:schemeClr>
                </a:solidFill>
              </a:rPr>
              <a:t>Individual level</a:t>
            </a:r>
            <a:endParaRPr lang="en-US" sz="17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Tommy Hawkins and his co conspirators should have acted ethically and complied with legal regulations </a:t>
            </a:r>
          </a:p>
          <a:p>
            <a:pPr marL="0" indent="0">
              <a:buNone/>
            </a:pPr>
            <a:endParaRPr lang="en-US" sz="1700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US" sz="1700" b="1">
                <a:solidFill>
                  <a:schemeClr val="tx1">
                    <a:lumMod val="85000"/>
                    <a:lumOff val="15000"/>
                  </a:schemeClr>
                </a:solidFill>
              </a:rPr>
              <a:t>Institutional level</a:t>
            </a:r>
            <a:endParaRPr lang="en-US" sz="17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The bank should have implemented stricter internal controls 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More effective verification processes could have prevented the fraud 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Red flags should have been addressed immediately 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Suspicious loan applications should not have been processed or forgiven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6A159-5EC8-C344-99F4-86D73C96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1B192E7-961E-4740-9348-0285CF925973}" type="slidenum">
              <a:rPr lang="en-US" sz="1000"/>
              <a:pPr>
                <a:spcAft>
                  <a:spcPts val="600"/>
                </a:spcAft>
              </a:pPr>
              <a:t>10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465508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04990-D815-0BF5-9601-9E8E19754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9. What can we learn from the case?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B4FF6-0E1D-35E1-F933-EDD620C91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Acting ethical and following proper procedures is essential </a:t>
            </a:r>
          </a:p>
          <a:p>
            <a:r>
              <a:rPr lang="en-US" dirty="0"/>
              <a:t>Identifying fraud without addressing it at its root is not enough </a:t>
            </a:r>
          </a:p>
          <a:p>
            <a:endParaRPr lang="en-US" dirty="0"/>
          </a:p>
          <a:p>
            <a:r>
              <a:rPr lang="en-US" dirty="0"/>
              <a:t>Financial institutions must take corrective action when red flags are detected </a:t>
            </a:r>
          </a:p>
          <a:p>
            <a:r>
              <a:rPr lang="en-US" dirty="0"/>
              <a:t>Strong internal controls and supervision are necessary to prevent further harm </a:t>
            </a:r>
          </a:p>
          <a:p>
            <a:endParaRPr lang="en-US" dirty="0"/>
          </a:p>
          <a:p>
            <a:r>
              <a:rPr lang="en-US" dirty="0"/>
              <a:t>Failure to act can lead to financial losses and legal consequences </a:t>
            </a:r>
          </a:p>
          <a:p>
            <a:r>
              <a:rPr lang="en-US" dirty="0"/>
              <a:t>Upholding public trust is crucial, especially when managing government-backed funds </a:t>
            </a:r>
          </a:p>
          <a:p>
            <a:endParaRPr lang="en-US" dirty="0"/>
          </a:p>
          <a:p>
            <a:r>
              <a:rPr lang="en-US" dirty="0"/>
              <a:t>Ethical responsibility requires fast and decisive action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A3FD8-247B-53AB-5751-C34EFAC40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192E7-961E-4740-9348-0285CF9259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18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421E1-D010-115A-0BD8-32CD91E6F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Bibliography</a:t>
            </a:r>
            <a:endParaRPr lang="en-US" sz="400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3B30C26-8512-2767-CE82-18B025BE5F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686323"/>
            <a:ext cx="4783697" cy="34335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r>
              <a:rPr lang="en-US" sz="1700" b="1" dirty="0"/>
              <a:t>U.S. Department of Justice. (2026).</a:t>
            </a:r>
            <a:br>
              <a:rPr lang="en-US" sz="1700" dirty="0"/>
            </a:br>
            <a:r>
              <a:rPr lang="en-US" sz="1700" i="1" dirty="0"/>
              <a:t>KeyBank Agrees to Pay $7.7 Million to Resolve Branch Manager’s Fraud.</a:t>
            </a:r>
            <a:br>
              <a:rPr lang="en-US" sz="1700" dirty="0"/>
            </a:br>
            <a:r>
              <a:rPr lang="en-US" sz="1700" dirty="0"/>
              <a:t>January 7, 2026. </a:t>
            </a:r>
            <a:r>
              <a:rPr lang="en-US" sz="1700" dirty="0">
                <a:hlinkClick r:id="rId2"/>
              </a:rPr>
              <a:t>https://www.justice.gov</a:t>
            </a:r>
            <a:endParaRPr lang="en-US" sz="1700" dirty="0"/>
          </a:p>
          <a:p>
            <a:r>
              <a:rPr lang="en-US" sz="1700" b="1" dirty="0"/>
              <a:t>U.S. Small Business Administration. (2020).</a:t>
            </a:r>
            <a:br>
              <a:rPr lang="en-US" sz="1700" dirty="0"/>
            </a:br>
            <a:r>
              <a:rPr lang="en-US" sz="1700" i="1" dirty="0"/>
              <a:t>Paycheck Protection Program.</a:t>
            </a:r>
            <a:br>
              <a:rPr lang="en-US" sz="1700" dirty="0"/>
            </a:br>
            <a:r>
              <a:rPr lang="en-US" sz="1700" dirty="0">
                <a:hlinkClick r:id="rId3"/>
              </a:rPr>
              <a:t>https://www.sba.gov</a:t>
            </a:r>
            <a:endParaRPr lang="en-US" sz="1700" dirty="0"/>
          </a:p>
          <a:p>
            <a:r>
              <a:rPr lang="en-US" sz="1700" b="1" dirty="0"/>
              <a:t>CFA Institute.</a:t>
            </a:r>
            <a:br>
              <a:rPr lang="en-US" sz="1700" dirty="0"/>
            </a:br>
            <a:r>
              <a:rPr lang="en-US" sz="1700" i="1" dirty="0"/>
              <a:t>Code of Ethics and Standards of Professional Conduct.</a:t>
            </a:r>
            <a:br>
              <a:rPr lang="en-US" sz="1700" dirty="0"/>
            </a:br>
            <a:r>
              <a:rPr lang="en-US" sz="1700" dirty="0">
                <a:hlinkClick r:id="rId4"/>
              </a:rPr>
              <a:t>https://www.cfainstitute.org</a:t>
            </a:r>
            <a:endParaRPr lang="en-US" sz="1700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2" name="Graphic 11" descr="Scales of Justice">
            <a:extLst>
              <a:ext uri="{FF2B5EF4-FFF2-40B4-BE49-F238E27FC236}">
                <a16:creationId xmlns:a16="http://schemas.microsoft.com/office/drawing/2014/main" id="{0204AD55-BB48-BFE2-3470-F6C976A21B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8424" y="646206"/>
            <a:ext cx="5365375" cy="536537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529D2-EB1C-FF14-F847-113B7B73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F1B192E7-961E-4740-9348-0285CF925973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579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1386</Words>
  <Application>Microsoft Macintosh PowerPoint</Application>
  <PresentationFormat>Widescreen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  The Ethical Analysis and Evaluation of: Key Bank Agrees to Pay $7.7 Million to Resolve Branch Manager’s Fraud  Prepared for: Professor Marcos A. Kerbel Department of Finance College of Business Florida International University Miami, Florida  Prepared by: Maggie Casasnovas 6378313 305 464 5185 mcasa097@fiu.edu casasnovasmaggie@gmail.com  Date of Report March 29, 2026  </vt:lpstr>
      <vt:lpstr>1. What are ethics, and why are they essential in global banking, finance, and business?</vt:lpstr>
      <vt:lpstr>2. What was the case about (Summary of the Case)?</vt:lpstr>
      <vt:lpstr>3. Who was (were) the individual(s) and company (ies) involved?</vt:lpstr>
      <vt:lpstr>PowerPoint Presentation</vt:lpstr>
      <vt:lpstr>PowerPoint Presentation</vt:lpstr>
      <vt:lpstr>5. Why did it happen?</vt:lpstr>
      <vt:lpstr>6. How did it come to the attention of the media?</vt:lpstr>
      <vt:lpstr>7. What was the outcome of the case?</vt:lpstr>
      <vt:lpstr>8. How could this case have been avoided?</vt:lpstr>
      <vt:lpstr>9. What can we learn from the case?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maggie casasnovas</dc:creator>
  <cp:lastModifiedBy>maggie casasnovas</cp:lastModifiedBy>
  <cp:revision>2</cp:revision>
  <dcterms:created xsi:type="dcterms:W3CDTF">2026-03-29T16:04:56Z</dcterms:created>
  <dcterms:modified xsi:type="dcterms:W3CDTF">2026-03-29T21:02:22Z</dcterms:modified>
</cp:coreProperties>
</file>